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400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5156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46304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22860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6400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05156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146304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2860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6400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05156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46304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22860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6400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05156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46304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2860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6400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05156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46304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65760" y="15087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6400800" cy="594360"/>
          </a:xfrm>
          <a:prstGeom prst="rect">
            <a:avLst/>
          </a:prstGeom>
          <a:solidFill>
            <a:srgbClr val="0A84FF">
              <a:alpha val="80000"/>
            </a:srgbClr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46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IP Registration · Smart Contracts · Ethereum Testnet Demo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29968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94176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94176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Remix IDE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58384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8384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ERC-721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22592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0" cy="7498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197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IP? Why blockchain? Key problems solved.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57400"/>
            <a:ext cx="640080" cy="7498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574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1122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441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Smart Contract + MetaMask + Ethereum layers.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640080" cy="749808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0266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Logic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355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code walkthrough — register, transfer, verify.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640080" cy="749808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9410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2702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→ MetaMask → Sepolia Testnet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4813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Centralized registries are slow &amp; expensive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4825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482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proof-of-ownership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1518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26151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Easy to forge or tamper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31821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Cross-border enforcement is nearly impossible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3749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Copyright disputes take years &amp; $$$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BLOCKCHAIN SOLUTION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48132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14813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Immutable timestamp on public ledger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4825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20482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Instant on-chain proof of authorship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61518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26151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Hash-based tamper-proof records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18211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9472" y="31821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Global, borderless enforcement via 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D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3749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Automated royalties via smart contracts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 Blockchain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 where each block holds a cryptographic hash of the previous block. Once recorded, data is immutable.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Smart Contract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Self-executing code deployed on Ethereum. No intermediary needed — rules enforced by code automatically.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5156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NFT / ERC-721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Non-fungible token standard. Each IP asset gets a unique token ID tied to creator wallet — provable, transferable ownership.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7180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IPFS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InterPlanetary File System. Stores actual IP files off-chain. Content-addressed via hash — tamper-proof file storage.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7180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 MetaMask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wallet that lets users sign transactions. Acts as the identity layer — no username/password, just cryptographic keys.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743200" cy="173736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71800"/>
            <a:ext cx="2743200" cy="41148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#️⃣  Keccak-256 Hash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SHA-3 variant used in Ethereum. Fingerprint of your IP file — even 1 byte change produces completely different hash.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0" y="1051560"/>
            <a:ext cx="1828800" cy="685800"/>
          </a:xfrm>
          <a:prstGeom prst="rect">
            <a:avLst/>
          </a:prstGeom>
          <a:solidFill>
            <a:srgbClr val="0A84FF">
              <a:alpha val="80000"/>
            </a:srgbClr>
          </a:solidFill>
          <a:ln w="25400">
            <a:solidFill>
              <a:srgbClr val="0A8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03320" y="10881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/ Verifier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743200" cy="685800"/>
          </a:xfrm>
          <a:prstGeom prst="rect">
            <a:avLst/>
          </a:prstGeom>
          <a:solidFill>
            <a:srgbClr val="7C5CBF">
              <a:alpha val="80000"/>
            </a:srgbClr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20482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(Web3.js / Ethers.js)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2560320" cy="685800"/>
          </a:xfrm>
          <a:prstGeom prst="rect">
            <a:avLst/>
          </a:prstGeom>
          <a:solidFill>
            <a:srgbClr val="0DB8A0">
              <a:alpha val="80000"/>
            </a:srgbClr>
          </a:solidFill>
          <a:ln w="25400">
            <a:solidFill>
              <a:srgbClr val="0DB8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0482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HTML + Web3 integration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2971800"/>
            <a:ext cx="2743200" cy="685800"/>
          </a:xfrm>
          <a:prstGeom prst="rect">
            <a:avLst/>
          </a:prstGeom>
          <a:solidFill>
            <a:srgbClr val="FF6B35">
              <a:alpha val="80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3008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3319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ERC-721 · IPProtection.sol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3886200"/>
            <a:ext cx="2743200" cy="685800"/>
          </a:xfrm>
          <a:prstGeom prst="rect">
            <a:avLst/>
          </a:prstGeom>
          <a:solidFill>
            <a:srgbClr val="3C6EBF">
              <a:alpha val="80000"/>
            </a:srgbClr>
          </a:solidFill>
          <a:ln w="25400">
            <a:solidFill>
              <a:srgbClr val="3C6E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3922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4233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 / Mainnet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560320" cy="685800"/>
          </a:xfrm>
          <a:prstGeom prst="rect">
            <a:avLst/>
          </a:prstGeom>
          <a:solidFill>
            <a:srgbClr val="2E9E7D">
              <a:alpha val="80000"/>
            </a:srgbClr>
          </a:solidFill>
          <a:ln w="25400">
            <a:solidFill>
              <a:srgbClr val="2E9E7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0083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 storage (content hash)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1737360"/>
            <a:ext cx="0" cy="27432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0" y="2697480"/>
            <a:ext cx="0" cy="27432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3657600"/>
            <a:ext cx="0" cy="22860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554480" y="2011680"/>
            <a:ext cx="0" cy="96012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1792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2011680"/>
            <a:ext cx="0" cy="2560320"/>
          </a:xfrm>
          <a:prstGeom prst="line">
            <a:avLst/>
          </a:prstGeom>
          <a:noFill/>
          <a:ln w="12700">
            <a:solidFill>
              <a:srgbClr val="00D4FF">
                <a:alpha val="60000"/>
              </a:srgbClr>
            </a:solidFill>
            <a:prstDash val="sysDot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LOGIC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303520" cy="397764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51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SPDX-License-Identifier: MIT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347472" y="12207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solidity ^0.8.20;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347472" y="15590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IPProtection {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47472" y="17282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IPRecord {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47472" y="18973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owner;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47472" y="20665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ipfsHash;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47472" y="22357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uint256 timestamp;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47472" y="24048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exists;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47472" y="25740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47472" y="27432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47472" y="29123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mapping(bytes32=&gt;IPRecord) public records;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47472" y="3081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47472" y="32506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registerIP(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47472" y="34198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memory _hash) public {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47472" y="35890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bytes32 id = keccak256(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47472" y="37581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abi.encodePacked(_hash));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47472" y="39273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records[id] = IPRecord(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47472" y="4096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msg.sender, _hash,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47472" y="42656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block.timestamp, true);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47472" y="4434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IPRegistered(id, msg.sender);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715000" y="1005840"/>
            <a:ext cx="3200400" cy="822960"/>
          </a:xfrm>
          <a:prstGeom prst="rect">
            <a:avLst/>
          </a:prstGeom>
          <a:solidFill>
            <a:srgbClr val="1B2A3E"/>
          </a:solidFill>
          <a:ln w="25400">
            <a:solidFill>
              <a:srgbClr val="0A8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1005840"/>
            <a:ext cx="3200400" cy="274320"/>
          </a:xfrm>
          <a:prstGeom prst="rect">
            <a:avLst/>
          </a:prstGeom>
          <a:solidFill>
            <a:srgbClr val="0A84FF">
              <a:alpha val="70000"/>
            </a:srgbClr>
          </a:solidFill>
          <a:ln w="12700">
            <a:solidFill>
              <a:srgbClr val="0A84F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registerIP()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12984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 IPFS hash → stored on-chain with timestamp &amp; wallet address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1965960"/>
            <a:ext cx="3200400" cy="822960"/>
          </a:xfrm>
          <a:prstGeom prst="rect">
            <a:avLst/>
          </a:prstGeom>
          <a:solidFill>
            <a:srgbClr val="1B2A3E"/>
          </a:solidFill>
          <a:ln w="25400">
            <a:solidFill>
              <a:srgbClr val="0DB8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15000" y="1965960"/>
            <a:ext cx="3200400" cy="274320"/>
          </a:xfrm>
          <a:prstGeom prst="rect">
            <a:avLst/>
          </a:prstGeom>
          <a:solidFill>
            <a:srgbClr val="0DB8A0">
              <a:alpha val="70000"/>
            </a:srgbClr>
          </a:solidFill>
          <a:ln w="12700">
            <a:solidFill>
              <a:srgbClr val="0DB8A0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verifyIP()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2585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a hash → returns owner address + registration 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15000" y="2926080"/>
            <a:ext cx="3200400" cy="822960"/>
          </a:xfrm>
          <a:prstGeom prst="rect">
            <a:avLst/>
          </a:prstGeom>
          <a:solidFill>
            <a:srgbClr val="1B2A3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15000" y="2926080"/>
            <a:ext cx="3200400" cy="274320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transferIP()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218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owner transfers ownership → on-chain, permanent, auditable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15000" y="3886200"/>
            <a:ext cx="3200400" cy="822960"/>
          </a:xfrm>
          <a:prstGeom prst="rect">
            <a:avLst/>
          </a:prstGeom>
          <a:solidFill>
            <a:srgbClr val="1B2A3E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15000" y="3886200"/>
            <a:ext cx="3200400" cy="274320"/>
          </a:xfrm>
          <a:prstGeom prst="rect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9B59B6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revokeIP()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417880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can mark IP as revoked — useful for licensed content expiry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0" cy="1143000"/>
          </a:xfrm>
          <a:prstGeom prst="rect">
            <a:avLst/>
          </a:prstGeom>
          <a:solidFill>
            <a:srgbClr val="F6851B"/>
          </a:solidFill>
          <a:ln w="12700">
            <a:solidFill>
              <a:srgbClr val="F68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connect to Sepolia testnet. Get test ETH from faucet.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640080" cy="11430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515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161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5087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IPProtection.sol → compile with Solidity 0.8.20.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50008"/>
            <a:ext cx="640080" cy="1143000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50008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459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807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Injected Provider (MetaMask). Confirm transaction.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640080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50008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459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807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registerIP() with IPFS hash of your file. Copy tx hash.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48456"/>
            <a:ext cx="640080" cy="11430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48456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758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1056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verifyIP() — show owner address + timestamp on screen.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48456"/>
            <a:ext cx="640080" cy="1143000"/>
          </a:xfrm>
          <a:prstGeom prst="rect">
            <a:avLst/>
          </a:prstGeom>
          <a:solidFill>
            <a:srgbClr val="3C6EBF"/>
          </a:solidFill>
          <a:ln w="12700">
            <a:solidFill>
              <a:srgbClr val="3C6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48456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758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Etherscan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41056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Sepolia Etherscan → paste contract address → show live events.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80160" cy="1280160"/>
          </a:xfrm>
          <a:prstGeom prst="ellipse">
            <a:avLst/>
          </a:prstGeom>
          <a:solidFill>
            <a:srgbClr val="0DB8A0">
              <a:alpha val="75000"/>
            </a:srgbClr>
          </a:solidFill>
          <a:ln w="25400">
            <a:solidFill>
              <a:srgbClr val="0DB8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uploads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IPFS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7360" y="1828800"/>
            <a:ext cx="384048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664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21408" y="1188720"/>
            <a:ext cx="1280160" cy="1280160"/>
          </a:xfrm>
          <a:prstGeom prst="ellipse">
            <a:avLst/>
          </a:prstGeom>
          <a:solidFill>
            <a:srgbClr val="0A84FF">
              <a:alpha val="75000"/>
            </a:srgbClr>
          </a:solidFill>
          <a:ln w="25400">
            <a:solidFill>
              <a:srgbClr val="0A8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#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29968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returns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01568" y="1828800"/>
            <a:ext cx="384048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664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85616" y="1188720"/>
            <a:ext cx="1280160" cy="1280160"/>
          </a:xfrm>
          <a:prstGeom prst="ellipse">
            <a:avLst/>
          </a:prstGeom>
          <a:solidFill>
            <a:srgbClr val="FF6B35">
              <a:alpha val="75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4176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registerIP(hash)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on-chain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65776" y="1828800"/>
            <a:ext cx="384048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664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49824" y="1188720"/>
            <a:ext cx="1280160" cy="1280160"/>
          </a:xfrm>
          <a:prstGeom prst="ellipse">
            <a:avLst/>
          </a:prstGeom>
          <a:solidFill>
            <a:srgbClr val="7C5CBF">
              <a:alpha val="75000"/>
            </a:srgbClr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⛓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58384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mined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sealed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9984" y="1828800"/>
            <a:ext cx="384048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664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14032" y="1188720"/>
            <a:ext cx="1280160" cy="1280160"/>
          </a:xfrm>
          <a:prstGeom prst="ellipse">
            <a:avLst/>
          </a:prstGeom>
          <a:solidFill>
            <a:srgbClr val="0DB8A0">
              <a:alpha val="75000"/>
            </a:srgbClr>
          </a:solidFill>
          <a:ln w="25400">
            <a:solidFill>
              <a:srgbClr val="0DB8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14032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22592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forever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DISPUTE SCENARIO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8587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later claims ownership of the same work: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Verifier calls verifyIP(hash) — contract instantly returns ORIGINAL owner wallet + exact timestamp.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Hash cannot be faked — it's deterministic. Same file = same hash. Every time. Proof is on-chain.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743200" cy="7315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52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739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Ethereum language, strong type safety, built-in overflow protection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102412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1024128"/>
            <a:ext cx="2743200" cy="73152"/>
          </a:xfrm>
          <a:prstGeom prst="rect">
            <a:avLst/>
          </a:prstGeom>
          <a:solidFill>
            <a:srgbClr val="0DB8A0"/>
          </a:solidFill>
          <a:ln w="12700">
            <a:solidFill>
              <a:srgbClr val="0DB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152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Standard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27832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Token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17739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unique asset ownership — every IP gets a unique token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02412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024128"/>
            <a:ext cx="2743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152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File Storage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7739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storage — hash of file IS its address. Tamper-proof.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9008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90088"/>
            <a:ext cx="2743200" cy="73152"/>
          </a:xfrm>
          <a:prstGeom prst="rect">
            <a:avLst/>
          </a:prstGeom>
          <a:solidFill>
            <a:srgbClr val="F6851B"/>
          </a:solidFill>
          <a:ln w="12700">
            <a:solidFill>
              <a:srgbClr val="F685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8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Identity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7398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that signs transactions. Private key never leaves user device.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36392" y="299008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2990088"/>
            <a:ext cx="27432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27832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27832" y="37398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no install needed. Built-in compiler, debugger, deployer.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44184" y="299008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2990088"/>
            <a:ext cx="2743200" cy="73152"/>
          </a:xfrm>
          <a:prstGeom prst="rect">
            <a:avLst/>
          </a:prstGeom>
          <a:solidFill>
            <a:srgbClr val="3C6EBF"/>
          </a:solidFill>
          <a:ln w="12700">
            <a:solidFill>
              <a:srgbClr val="3C6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35624" y="3447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6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Ethereum Network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5624" y="37398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test ETH, real Ethereum environment. Safe for demo without real money.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provides immutable, timestamped, decentralized proof of IP ownership — no central authority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41248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691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enforce IP rules automatically — registration, verification, transfer — all on-chain, all auditable.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41248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468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blockchain = a complete decentralized IP system. Files stored off-chain, metadata on-chain.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41248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2461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hashes make records tamper-proof. Ownership disputes are resolved by math, not courts.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Resources: remix.ethereum.org  ·  docs.soliditylang.org  ·  metamask.io  ·  docs.ipfs.tech  ·  sepolia.etherscan.io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Intellectual Property Protection</dc:title>
  <dc:subject>PptxGenJS Presentation</dc:subject>
  <dc:creator>PptxGenJS</dc:creator>
  <cp:lastModifiedBy>PptxGenJS</cp:lastModifiedBy>
  <cp:revision>1</cp:revision>
  <dcterms:created xsi:type="dcterms:W3CDTF">2026-04-04T11:21:05Z</dcterms:created>
  <dcterms:modified xsi:type="dcterms:W3CDTF">2026-04-04T11:21:05Z</dcterms:modified>
</cp:coreProperties>
</file>